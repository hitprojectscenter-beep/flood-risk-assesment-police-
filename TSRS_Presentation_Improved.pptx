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097280"/>
            <a:ext cx="21031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1887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4B8A6"/>
                </a:solidFill>
                <a:latin typeface="Arial"/>
              </a:defRPr>
            </a:pPr>
            <a:r>
              <a:t>TSRS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Tsunami Station Risk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מודל גאוגרפי לתיעדוף הקצאת משאבים — משטרת ישראל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מבוסס על: Wood &amp; Jones (2015) | Tucson Workload Model | מחקרי ABM | יוני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B8A6"/>
                </a:solidFill>
                <a:latin typeface="Arial"/>
              </a:defRPr>
            </a:pPr>
            <a:r>
              <a:t>הבעיה: ניהול אינטואיטיבי בסביבה קריטית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🔴  פער מידע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אין מפת הצפות ייעודית המשולבת עם טריטוריות תחנות משטרה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🔴  הקצאה אינטואיטיבית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כוחות מוקצים ידנית ללא שיקלול פגיעות אוכלוסייה, צפיפות ותנועה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🔴  זמן התראה קצר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ים תיכון = Near-field. פחות מ-20 דקות לתגובה. אין מקום לאלתור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🔴  משימות המשטרה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פינוי אוכלוסייה, ניהול תנועה, סגירת זירות ומניעת ביזה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486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4B8A6"/>
                </a:solidFill>
                <a:latin typeface="Arial"/>
              </a:defRPr>
            </a:pPr>
            <a:r>
              <a:t>🎯  החזון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Arial"/>
              </a:defRPr>
            </a:pPr>
            <a:r>
              <a:t>מפקד תחנה פותח מסך, בוחר גובה גל ונפה, ורואה: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1F5F9"/>
                </a:solidFill>
                <a:latin typeface="Arial"/>
              </a:defRPr>
            </a:pPr>
            <a:r>
              <a:t>✅  מפת סיכון של טריטוריית התחנה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1F5F9"/>
                </a:solidFill>
                <a:latin typeface="Arial"/>
              </a:defRPr>
            </a:pPr>
            <a:r>
              <a:t>✅  ציון TSRS מחושב (0-100) לכל עיר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1F5F9"/>
                </a:solidFill>
                <a:latin typeface="Arial"/>
              </a:defRPr>
            </a:pPr>
            <a:r>
              <a:t>✅  מספר ניידות גיבוי נדרש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1F5F9"/>
                </a:solidFill>
                <a:latin typeface="Arial"/>
              </a:defRPr>
            </a:pPr>
            <a:r>
              <a:t>✅  צירי פינוי מומלצים ומקלטים אנכיים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1F5F9"/>
                </a:solidFill>
                <a:latin typeface="Arial"/>
              </a:defRPr>
            </a:pPr>
            <a:r>
              <a:t>✅  הנחיות מבצעיות מותאמות לתרחיש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52035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הנחות בסיס (כולל הנחות סמויות)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rial"/>
              </a:defRPr>
            </a:pPr>
            <a:r>
              <a:t>• המשטרה היא First Responder — פועלת לפני פיקוד העורף ומל"ח  •  נתוני DEM ואוכלוסייה זמינים מלמ"ס ומפ"י  •  מודל הצפה מבוסס על גובה גל בלבד (לא בתימות/מקור רעידה)  •  ABM מבוסס על הנחות תנועה ממוצעות  •  אשכול סוציו-אקונומי כ-proxy לניידות ופגיעות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B8A6"/>
                </a:solidFill>
                <a:latin typeface="Arial"/>
              </a:defRPr>
            </a:pPr>
            <a:r>
              <a:t>המודל: 5 מדדים משוקללים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ourier New"/>
              </a:defRPr>
            </a:pPr>
            <a:r>
              <a:t>TSRS = (H × 0.35) + (V × 0.30) + (O × 0.20) + (R⁻¹ × 0.10) + (I⁻¹ × 0.05)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1488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51760"/>
            <a:ext cx="86868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חשיפה פיזית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קרבת חוף, % הצפה, זמן גל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011680"/>
            <a:ext cx="21488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651760"/>
            <a:ext cx="8686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פגיעות אוכלוסייה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74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גיל, ניידות, מוסדות, מדד ח"כ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011680"/>
            <a:ext cx="21488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97316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651760"/>
            <a:ext cx="8686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עומס מבצעי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74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ABM, צווארי בקבוק, צירי פינוי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011680"/>
            <a:ext cx="21488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Arial"/>
              </a:defRPr>
            </a:pPr>
            <a:r>
              <a:t>R⁻¹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651760"/>
            <a:ext cx="8686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גרעון משאבים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74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ניידות, זמן תגובה, KYT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011680"/>
            <a:ext cx="21488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Arial"/>
              </a:defRPr>
            </a:pPr>
            <a:r>
              <a:t>I⁻¹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0" y="2651760"/>
            <a:ext cx="868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חוסן תשתית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474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צירים חלופיים, מקלטים, DTN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דרגות סיכון: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4846320"/>
            <a:ext cx="16459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80+  קריטי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4846320"/>
            <a:ext cx="164592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60+  גבוה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846320"/>
            <a:ext cx="1645920" cy="36576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40+  בינוני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846320"/>
            <a:ext cx="164592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20+  נמוך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846320"/>
            <a:ext cx="1645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&lt;20  מינימלי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B8A6"/>
                </a:solidFill>
                <a:latin typeface="Arial"/>
              </a:defRPr>
            </a:pPr>
            <a:r>
              <a:t>תרשים המודל: קלט → עיבוד → פלט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4747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📥  נתוני קלט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DEM 5m — מפ"י (מודל גובה דיגיטלי)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גבולות מוניציפליים — OSM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אוכלוסייה וגילאים — למ"ס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23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אשכול סוציו-אקונומי — למ"ס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564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רשת כבישים — OSM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תחנות משטרה — OSM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24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▸  מודל הצפה — GSI (גובה גל)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4B8A6"/>
                </a:solidFill>
                <a:latin typeface="Arial"/>
              </a:defRPr>
            </a:pPr>
            <a:r>
              <a:t>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Arial"/>
              </a:defRPr>
            </a:pPr>
            <a:r>
              <a:t>⚙️  שלבי עיבוד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1.  חישוב אזורי הצפה לפי גובה גל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2.  חיתוך מרחבי עם גבולות ערים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883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3.  חישוב H — אחוז שטח מוצף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72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4.  חישוב V — פגיעות דמוגרפית מלמ"ס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5.  חישוב O — סימולציית ABM לפינוי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6.  חישוב R⁻¹ — הערכת משאבי תגובה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24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7.  חישוב I⁻¹ — זיהוי מקלטים ותשתיות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08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8.  נרמול Min-Max + שקלול TSRS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4B8A6"/>
                </a:solidFill>
                <a:latin typeface="Arial"/>
              </a:defRPr>
            </a:pPr>
            <a:r>
              <a:t>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Arial"/>
              </a:defRPr>
            </a:pPr>
            <a:r>
              <a:t>📤  תוצרי פלט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תוצרים גאוגרפיים: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🗺️  מפת חום הצפות דינמית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🗺️  פוליגוני ערים צבועים לפי TSRS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🗺️  נקודות תחנות משטרה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🗺️  שכבות OSM (כבישים, מבנים)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תוצרים טבלאיים: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📊  ציון TSRS (0-100) לכל עיר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434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📊  פירוט 5 מדדים (H,V,O,R,I)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7548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📊  הנחיות מבצעיות בעברית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0749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📊  פילוח דמוגרפי (גילאים, ח"כ)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53949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rial"/>
              </a:defRPr>
            </a:pPr>
            <a:r>
              <a:t>📊  ייצוא PDF לתחנה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B8A6"/>
                </a:solidFill>
                <a:latin typeface="Arial"/>
              </a:defRPr>
            </a:pPr>
            <a:r>
              <a:t>היישום: GIS אינטראקטיבי לתיעדוף בזמן אמת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מפת 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מפת Leaflet עם שכבות OSM, ESRI</a:t>
            </a:r>
            <a:br/>
            <a:r>
              <a:t>Hillshade, ומפת חום הצפות דינמית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גבולות ערים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554 גבולות מוניציפליים אמיתיים מ-OSM</a:t>
            </a:r>
            <a:br/>
            <a:r>
              <a:t>צבועים לפי ציון TSRS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18872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סליידר גובה גל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בחירת גובה גל 0.5-10 מ' עם</a:t>
            </a:r>
            <a:br/>
            <a:r>
              <a:t>עדכון מיידי של מפת החום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פילוח דמוגרפי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התפלגות גילאים, אשכול ח"כ</a:t>
            </a:r>
            <a:br/>
            <a:r>
              <a:t>מנתוני למ"ס אמיתיים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4048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תחנות משטרה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572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נתוני OSM אמיתיים עם אייקון</a:t>
            </a:r>
            <a:br/>
            <a:r>
              <a:t>משטרת ישראל על המפה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84048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הנחיות מבצעיות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72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ניידות גיבוי, צירי פינוי,</a:t>
            </a:r>
            <a:br/>
            <a:r>
              <a:t>מקלטים אנכיים — לכל עיר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B8A6"/>
                </a:solidFill>
                <a:latin typeface="Arial"/>
              </a:defRPr>
            </a:pPr>
            <a:r>
              <a:t>מקורות מידע וביבליוגרפיה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📂  מקורות נתונים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F5F9"/>
                </a:solidFill>
                <a:latin typeface="Arial"/>
              </a:defRPr>
            </a:pPr>
            <a:r>
              <a:t>▸  הלמ"ס — נתוני אוכלוסייה, גילאים, אשכול סוציו-אקונומי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F5F9"/>
                </a:solidFill>
                <a:latin typeface="Arial"/>
              </a:defRPr>
            </a:pPr>
            <a:r>
              <a:t>▸  מפ"י — מודל גובה דיגיטלי (DEM) 5 מטר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F5F9"/>
                </a:solidFill>
                <a:latin typeface="Arial"/>
              </a:defRPr>
            </a:pPr>
            <a:r>
              <a:t>▸  GSI (מכון גיאולוגי) — מודל הצפות צונאמי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809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F5F9"/>
                </a:solidFill>
                <a:latin typeface="Arial"/>
              </a:defRPr>
            </a:pPr>
            <a:r>
              <a:t>▸  OpenStreetMap — גבולות מוניציפליים, כבישים, מבנים, תחנות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49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F5F9"/>
                </a:solidFill>
                <a:latin typeface="Arial"/>
              </a:defRPr>
            </a:pPr>
            <a:r>
              <a:t>▸  ESRI — שכבת Hillshade (תבליט)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F5F9"/>
                </a:solidFill>
                <a:latin typeface="Arial"/>
              </a:defRPr>
            </a:pPr>
            <a:r>
              <a:t>▸  GOVMAP — שכבות WMS ממשלתיות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4B8A6"/>
                </a:solidFill>
                <a:latin typeface="Arial"/>
              </a:defRPr>
            </a:pPr>
            <a:r>
              <a:t>📚  מקורות ביבליוגרפיים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1. Wood, N. &amp; Jones, J. (2015). "Tsunami Exposure</a:t>
            </a:r>
            <a:br/>
            <a:r>
              <a:t>   Assessment" — USGS Scientific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2. Tucson Police Dept. — Workload-Based Staffing</a:t>
            </a:r>
            <a:br/>
            <a:r>
              <a:t>   Model for Resource Allocation.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0545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3. Mas, E. et al. (2012). "Agent-Based Simulation</a:t>
            </a:r>
            <a:br/>
            <a:r>
              <a:t>   of Tsunami Evacuation" — Natural Hazards.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8950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4. Patel, D. (2019). "GIS-Based Multi-Criteria</a:t>
            </a:r>
            <a:br/>
            <a:r>
              <a:t>   Tsunami Risk Assessment" — Applied Geography.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7355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5. Israel CBS (2022). "Socio-Economic Profiles</a:t>
            </a:r>
            <a:br/>
            <a:r>
              <a:t>   of Local Authorities" — Statistical Abstract.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5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6. Geist, E. &amp; Parsons, T. (2006). "Probabilistic</a:t>
            </a:r>
            <a:br/>
            <a:r>
              <a:t>   Analysis of Tsunami Hazards" — Natural Hazards.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1F5F9"/>
                </a:solidFill>
                <a:latin typeface="Courier New"/>
              </a:defRPr>
            </a:pPr>
            <a:r>
              <a:t>7. Leone, F. et al. (2011). "Evacuation Modeling</a:t>
            </a:r>
            <a:br/>
            <a:r>
              <a:t>   for Tsunami Risk" — Natural Hazards &amp; Earth.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47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🔧  סטאק טכנולוגי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4B8A6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rial"/>
              </a:defRPr>
            </a:pPr>
            <a:r>
              <a:t>Leaflet.js + HTML/CSS/JS + Firebase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4B8A6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rial"/>
              </a:defRPr>
            </a:pPr>
            <a:r>
              <a:t>Python FastAPI + GeoJSON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4B8A6"/>
                </a:solidFill>
                <a:latin typeface="Arial"/>
              </a:defRPr>
            </a:pPr>
            <a:r>
              <a:t>Map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rial"/>
              </a:defRPr>
            </a:pPr>
            <a:r>
              <a:t>OSM + ESRI Hillshade + GOVMAP WMS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4B8A6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rial"/>
              </a:defRPr>
            </a:pPr>
            <a:r>
              <a:t>CBS CSV + Overpass API + Leaflet.heat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B8A6"/>
                </a:solidFill>
                <a:latin typeface="Arial"/>
              </a:defRPr>
            </a:pPr>
            <a:r>
              <a:t>סיכום וקריאה לפעולה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✅  5 מדדים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43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ציון TSRS 0-100 לכל עיר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0292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✅  GIS + ABM + למ"ס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מודל מבוסס נתונים אמיתיים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50292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✅  ממשק אינטואיטיבי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סליידר + נפה + מפת חום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50292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✅  554 ערים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260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גבולות מוניציפליים מלאים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50292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✅  5 שפות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204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עברית, אנגלית, רוסית, צרפתית, ספרדית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50292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4B8A6"/>
                </a:solidFill>
                <a:latin typeface="Arial"/>
              </a:defRPr>
            </a:pPr>
            <a:r>
              <a:t>✅  Open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OSM + Leaflet — עלות מינימלית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097280"/>
            <a:ext cx="5760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4B8A6"/>
                </a:solidFill>
                <a:latin typeface="Arial"/>
              </a:defRPr>
            </a:pPr>
            <a:r>
              <a:t>🚀  הצעדים הבאים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Arial"/>
              </a:defRPr>
            </a:pPr>
            <a:r>
              <a:t>אישור BRD על ידי ממ"מ / מנהל מחשוב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46888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Arial"/>
              </a:defRPr>
            </a:pPr>
            <a:r>
              <a:t>תיאום GSI ומפ"י לנתוני הצפה מדויקים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10896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Arial"/>
              </a:defRPr>
            </a:pPr>
            <a:r>
              <a:t>בחירת 3 תחנות פיילוט בחוף הים התיכון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74904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Arial"/>
              </a:defRPr>
            </a:pPr>
            <a:r>
              <a:t>הקמת סביבה (Docker + DB) — שבוע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8912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Arial"/>
              </a:defRPr>
            </a:pPr>
            <a:r>
              <a:t>Kick-off: צוות GIS + מפקדי תחנות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Arial"/>
              </a:defRPr>
            </a:pPr>
            <a:r>
              <a:t>"מידע גאוגרפי מציל חיים — הכנה מוקדמת מציל יותר"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