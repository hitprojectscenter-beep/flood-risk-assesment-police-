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0" y="1097280"/>
            <a:ext cx="210312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0" y="1188720"/>
            <a:ext cx="1554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Arial"/>
              </a:defRPr>
            </a:pPr>
            <a:r>
              <a:t>🛡️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14B8A6"/>
                </a:solidFill>
                <a:latin typeface="Arial"/>
              </a:defRPr>
            </a:pPr>
            <a:r>
              <a:t>TSRS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2976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Arial"/>
              </a:defRPr>
            </a:pPr>
            <a:r>
              <a:t>Tsunami Station Risk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Arial"/>
              </a:defRPr>
            </a:pPr>
            <a:r>
              <a:t>מודל גאוגרפי לתיעדוף הקצאת משאבים — משטרת ישראל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Arial"/>
              </a:defRPr>
            </a:pPr>
            <a:r>
              <a:t>מבוסס על: Wood &amp; Jones (2015) | Tucson Workload Model | מחקרי ABM | יוני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3000" b="1">
                <a:solidFill>
                  <a:srgbClr val="14B8A6"/>
                </a:solidFill>
                <a:latin typeface="Arial"/>
              </a:defRPr>
            </a:pPr>
            <a:r>
              <a:t>הבעיה: ניהול אינטואיטיבי בסביבה קריטית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3035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🔴  פער מידע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9164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Arial"/>
              </a:defRPr>
            </a:pPr>
            <a:r>
              <a:t>אין מפת הצפות ייעודית המשולבת עם טריטוריות תחנות משטרה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🔴  הקצאה אינטואיטיבית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Arial"/>
              </a:defRPr>
            </a:pPr>
            <a:r>
              <a:t>כוחות מוקצים ידנית ללא שיקלול פגיעות אוכלוסייה, צפיפות ותנועה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🔴  זמן התראה קצר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Arial"/>
              </a:defRPr>
            </a:pPr>
            <a:r>
              <a:t>ים תיכון = Near-field. פחות מ-20 דקות לתגובה. אין מקום לאלתור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🔴  משימות המשטרה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43484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Arial"/>
              </a:defRPr>
            </a:pPr>
            <a:r>
              <a:t>פינוי אוכלוסייה, ניהול תנועה, סגירת זירות ומניעת ביזה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188720"/>
            <a:ext cx="54864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14B8A6"/>
                </a:solidFill>
                <a:latin typeface="Arial"/>
              </a:defRPr>
            </a:pPr>
            <a:r>
              <a:t>🎯  החזון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FFFFFF"/>
                </a:solidFill>
                <a:latin typeface="Arial"/>
              </a:defRPr>
            </a:pPr>
            <a:r>
              <a:t>מפקד תחנה פותח מסך, בוחר גובה גל ונפה, ורואה: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1F5F9"/>
                </a:solidFill>
                <a:latin typeface="Arial"/>
              </a:defRPr>
            </a:pPr>
            <a:r>
              <a:t>✅  מפת סיכון של טריטוריית התחנה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517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1F5F9"/>
                </a:solidFill>
                <a:latin typeface="Arial"/>
              </a:defRPr>
            </a:pPr>
            <a:r>
              <a:t>✅  ציון TSRS מחושב (0-100) לכל עיר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0175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1F5F9"/>
                </a:solidFill>
                <a:latin typeface="Arial"/>
              </a:defRPr>
            </a:pPr>
            <a:r>
              <a:t>✅  מספר ניידות גיבוי נדרש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83279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1F5F9"/>
                </a:solidFill>
                <a:latin typeface="Arial"/>
              </a:defRPr>
            </a:pPr>
            <a:r>
              <a:t>✅  צירי פינוי מומלצים ומקלטים אנכיים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749039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1F5F9"/>
                </a:solidFill>
                <a:latin typeface="Arial"/>
              </a:defRPr>
            </a:pPr>
            <a:r>
              <a:t>✅  הנחיות מבצעיות מותאמות לתרחיש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86400"/>
            <a:ext cx="11247120" cy="1097280"/>
          </a:xfrm>
          <a:prstGeom prst="roundRect">
            <a:avLst/>
          </a:prstGeom>
          <a:solidFill>
            <a:srgbClr val="152035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4B8A6"/>
                </a:solidFill>
                <a:latin typeface="Arial"/>
              </a:defRPr>
            </a:pPr>
            <a:r>
              <a:t>הנחות בסיס (כולל הנחות סמויות)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521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Arial"/>
              </a:defRPr>
            </a:pPr>
            <a:r>
              <a:t>• המשטרה היא First Responder — פועלת לפני פיקוד העורף ומל"ח  •  נתוני DEM ואוכלוסייה זמינים מלמ"ס ומפ"י  •  מודל הצפה מבוסס על גובה גל בלבד (לא בתימות/מקור רעידה)  •  ABM מבוסס על הנחות תנועה ממוצעות  •  אשכול סוציו-אקונומי כ-proxy לניידות ופגיעות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3000" b="1">
                <a:solidFill>
                  <a:srgbClr val="14B8A6"/>
                </a:solidFill>
                <a:latin typeface="Arial"/>
              </a:defRPr>
            </a:pPr>
            <a:r>
              <a:t>המודל: 5 מדדים משוקללים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097280"/>
            <a:ext cx="1033272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430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4B8A6"/>
                </a:solidFill>
                <a:latin typeface="Courier New"/>
              </a:defRPr>
            </a:pPr>
            <a:r>
              <a:t>TSRS = (H × 0.25) + (V × 0.30) + (O × 0.15) + (R⁻¹ × 0.18) + (I⁻¹ × 0.12)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214884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F4444"/>
                </a:solidFill>
                <a:latin typeface="Arial"/>
              </a:defRPr>
            </a:pPr>
            <a:r>
              <a:t>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51760"/>
            <a:ext cx="868680" cy="32004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Arial"/>
              </a:defRPr>
            </a:pPr>
            <a:r>
              <a:t>25%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חשיפה פיזית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7472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Arial"/>
              </a:defRPr>
            </a:pPr>
            <a:r>
              <a:t>קרבת חוף, % הצפה, זמן גל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2011680"/>
            <a:ext cx="214884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10312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8B5CF6"/>
                </a:solidFill>
                <a:latin typeface="Arial"/>
              </a:defRPr>
            </a:pPr>
            <a:r>
              <a:t>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2651760"/>
            <a:ext cx="86868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651760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Arial"/>
              </a:defRPr>
            </a:pPr>
            <a:r>
              <a:t>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10896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פגיעות אוכלוסייה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347472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Arial"/>
              </a:defRPr>
            </a:pPr>
            <a:r>
              <a:t>גיל, ניידות, מוסדות, מדד ח"כ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011680"/>
            <a:ext cx="214884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210312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97316"/>
                </a:solidFill>
                <a:latin typeface="Arial"/>
              </a:defRPr>
            </a:pPr>
            <a:r>
              <a:t>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2651760"/>
            <a:ext cx="868680" cy="32004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0" y="2651760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Arial"/>
              </a:defRPr>
            </a:pPr>
            <a:r>
              <a:t>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10896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עומס מבצעי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347472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Arial"/>
              </a:defRPr>
            </a:pPr>
            <a:r>
              <a:t>ABM, צווארי בקבוק, צירי פינוי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2011680"/>
            <a:ext cx="214884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210312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2C55E"/>
                </a:solidFill>
                <a:latin typeface="Arial"/>
              </a:defRPr>
            </a:pPr>
            <a:r>
              <a:t>R⁻¹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79" y="2651760"/>
            <a:ext cx="868680" cy="32004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651760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Arial"/>
              </a:defRPr>
            </a:pPr>
            <a:r>
              <a:t>18%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10896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גרעון משאבים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47472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Arial"/>
              </a:defRPr>
            </a:pPr>
            <a:r>
              <a:t>ניידות, זמן תגובה, KYT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0" y="2011680"/>
            <a:ext cx="2148840" cy="2560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0" y="210312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B82F6"/>
                </a:solidFill>
                <a:latin typeface="Arial"/>
              </a:defRPr>
            </a:pPr>
            <a:r>
              <a:t>I⁻¹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0" y="2651760"/>
            <a:ext cx="868680" cy="3200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41280" y="2651760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Arial"/>
              </a:defRPr>
            </a:pPr>
            <a:r>
              <a:t>12%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310896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חוסן תשתית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347472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Arial"/>
              </a:defRPr>
            </a:pPr>
            <a:r>
              <a:t>צירים חלופיים, מקלטים, DTN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846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Arial"/>
              </a:defRPr>
            </a:pPr>
            <a:r>
              <a:t>דרגות סיכון: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0" y="4846320"/>
            <a:ext cx="164592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0" y="4846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80+  קריטי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0" y="4846320"/>
            <a:ext cx="1645920" cy="36576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0" y="4846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60+  גבוה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4846320"/>
            <a:ext cx="1645920" cy="365760"/>
          </a:xfrm>
          <a:prstGeom prst="round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4846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40+  בינוני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846320"/>
            <a:ext cx="1645920" cy="36576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0" y="4846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20+  נמוך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0" y="4846320"/>
            <a:ext cx="164592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0" y="4846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172A"/>
                </a:solidFill>
                <a:latin typeface="Arial"/>
              </a:defRPr>
            </a:pPr>
            <a:r>
              <a:t>&lt;20  מינימלי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3000" b="1">
                <a:solidFill>
                  <a:srgbClr val="14B8A6"/>
                </a:solidFill>
                <a:latin typeface="Arial"/>
              </a:defRPr>
            </a:pPr>
            <a:r>
              <a:t>⚖️ כיול משקלים — התאמה לישראל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FFFF"/>
                </a:solidFill>
                <a:latin typeface="Arial"/>
              </a:defRPr>
            </a:pPr>
            <a:r>
              <a:t>השוואה: בינלאומי vs. ישראל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6858000" cy="4023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B8A6"/>
                </a:solidFill>
                <a:latin typeface="Arial"/>
              </a:defRPr>
            </a:pPr>
            <a:r>
              <a:t>מדד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600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4A3B8"/>
                </a:solidFill>
                <a:latin typeface="Arial"/>
              </a:defRPr>
            </a:pPr>
            <a:r>
              <a:t>בינלאומי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6002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4B8A6"/>
                </a:solidFill>
                <a:latin typeface="Arial"/>
              </a:defRPr>
            </a:pPr>
            <a:r>
              <a:t>ישראל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6002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שינוי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600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נימוק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47672"/>
            <a:ext cx="6492240" cy="1828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F4444"/>
                </a:solidFill>
                <a:latin typeface="Arial"/>
              </a:defRPr>
            </a:pPr>
            <a:r>
              <a:t>H חשיפה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057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Arial"/>
              </a:defRPr>
            </a:pPr>
            <a:r>
              <a:t>35%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0574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4B8A6"/>
                </a:solidFill>
                <a:latin typeface="Arial"/>
              </a:defRPr>
            </a:pPr>
            <a:r>
              <a:t>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0574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F4444"/>
                </a:solidFill>
                <a:latin typeface="Arial"/>
              </a:defRPr>
            </a:pPr>
            <a:r>
              <a:t>↓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057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Arial"/>
              </a:defRPr>
            </a:pPr>
            <a:r>
              <a:t>חוף צר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6517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8B5CF6"/>
                </a:solidFill>
                <a:latin typeface="Arial"/>
              </a:defRPr>
            </a:pPr>
            <a:r>
              <a:t>V פגיעות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2651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Arial"/>
              </a:defRPr>
            </a:pPr>
            <a:r>
              <a:t>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6517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4B8A6"/>
                </a:solidFill>
                <a:latin typeface="Arial"/>
              </a:defRPr>
            </a:pPr>
            <a:r>
              <a:t>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6517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=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2651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Arial"/>
              </a:defRPr>
            </a:pPr>
            <a:r>
              <a:t>מבדיל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461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97316"/>
                </a:solidFill>
                <a:latin typeface="Arial"/>
              </a:defRPr>
            </a:pPr>
            <a:r>
              <a:t>O מבצעי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2461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Arial"/>
              </a:defRPr>
            </a:pPr>
            <a:r>
              <a:t>20%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2461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4B8A6"/>
                </a:solidFill>
                <a:latin typeface="Arial"/>
              </a:defRPr>
            </a:pPr>
            <a:r>
              <a:t>15%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2461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F4444"/>
                </a:solidFill>
                <a:latin typeface="Arial"/>
              </a:defRPr>
            </a:pPr>
            <a:r>
              <a:t>↓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32461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Arial"/>
              </a:defRPr>
            </a:pPr>
            <a:r>
              <a:t>עבר ל-I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84048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2C55E"/>
                </a:solidFill>
                <a:latin typeface="Arial"/>
              </a:defRPr>
            </a:pPr>
            <a:r>
              <a:t>R⁻¹ משאבים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3840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Arial"/>
              </a:defRPr>
            </a:pPr>
            <a:r>
              <a:t>10%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384048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4B8A6"/>
                </a:solidFill>
                <a:latin typeface="Arial"/>
              </a:defRPr>
            </a:pPr>
            <a:r>
              <a:t>18%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84048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2C55E"/>
                </a:solidFill>
                <a:latin typeface="Arial"/>
              </a:defRPr>
            </a:pPr>
            <a:r>
              <a:t>↑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3840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Arial"/>
              </a:defRPr>
            </a:pPr>
            <a:r>
              <a:t>פערים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4348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B82F6"/>
                </a:solidFill>
                <a:latin typeface="Arial"/>
              </a:defRPr>
            </a:pPr>
            <a:r>
              <a:t>I⁻¹ תשתית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20240" y="4434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Arial"/>
              </a:defRPr>
            </a:pPr>
            <a:r>
              <a:t>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44348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4B8A6"/>
                </a:solidFill>
                <a:latin typeface="Arial"/>
              </a:defRPr>
            </a:pPr>
            <a:r>
              <a:t>12%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4348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2C55E"/>
                </a:solidFill>
                <a:latin typeface="Arial"/>
              </a:defRPr>
            </a:pPr>
            <a:r>
              <a:t>↑ 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4434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Arial"/>
              </a:defRPr>
            </a:pPr>
            <a:r>
              <a:t>פריפריה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89520" y="1051560"/>
            <a:ext cx="429768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0" y="114300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14B8A6"/>
                </a:solidFill>
                <a:latin typeface="Arial"/>
              </a:defRPr>
            </a:pPr>
            <a:r>
              <a:t>💡 למה ישראל שונה?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17373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FFFFFF"/>
                </a:solidFill>
                <a:latin typeface="Arial"/>
              </a:defRPr>
            </a:pPr>
            <a:r>
              <a:t>🏖️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17373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רצועת חוף צרה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205740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Arial"/>
              </a:defRPr>
            </a:pPr>
            <a:r>
              <a:t>רק 190 ק"מ ים תיכון — כל הערים החופיות באותה רמת חשיפה בקירוב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26974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FFFFFF"/>
                </a:solidFill>
                <a:latin typeface="Arial"/>
              </a:defRPr>
            </a:pPr>
            <a:r>
              <a:t>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26974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פערים דמוגרפיים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01752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Arial"/>
              </a:defRPr>
            </a:pPr>
            <a:r>
              <a:t>אשכול 1-2 (פריפריה) מול 8-10 (מרכז) — פגיעות שונה דרמטית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0" y="36576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FFFFFF"/>
                </a:solidFill>
                <a:latin typeface="Arial"/>
              </a:defRPr>
            </a:pPr>
            <a:r>
              <a:t>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36576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פערי משאבים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3977639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Arial"/>
              </a:defRPr>
            </a:pPr>
            <a:r>
              <a:t>תחנה במרכז ת״א מול תחנה בפריפריה: פי 3-5 הבדל בכוח אדם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46177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FFFFFF"/>
                </a:solidFill>
                <a:latin typeface="Arial"/>
              </a:defRPr>
            </a:pPr>
            <a:r>
              <a:t>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46177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תשתיות מוגבלות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4937759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Arial"/>
              </a:defRPr>
            </a:pPr>
            <a:r>
              <a:t>מקלטים אנכיים רק בערים גדולות — בפריפריה אין כלל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5715000"/>
            <a:ext cx="11247120" cy="822960"/>
          </a:xfrm>
          <a:prstGeom prst="roundRect">
            <a:avLst/>
          </a:prstGeom>
          <a:solidFill>
            <a:srgbClr val="152035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57607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4B8A6"/>
                </a:solidFill>
                <a:latin typeface="Arial"/>
              </a:defRPr>
            </a:pPr>
            <a:r>
              <a:t>🎛️  סליידרים אינטראקטיביים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60807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המשתמש יכול לכוונן את המשקלים בזמן אמת ולראות את ההשפעה על המפה. שני פריסטים: 🇮🇱 ישראל (ברירת מחדל) | 🌍 בינלאומי. הציונים מתעדכנים מיידית עם שינוי המשקלים.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3000" b="1">
                <a:solidFill>
                  <a:srgbClr val="14B8A6"/>
                </a:solidFill>
                <a:latin typeface="Arial"/>
              </a:defRPr>
            </a:pPr>
            <a:r>
              <a:t>תרשים המודל: קלט → עיבוד → פלט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188720"/>
            <a:ext cx="347472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B82F6"/>
                </a:solidFill>
                <a:latin typeface="Arial"/>
              </a:defRPr>
            </a:pPr>
            <a:r>
              <a:t>📥  נתוני קלט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▸  DEM 5m — מפ"י (מודל גובה דיגיטלי)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042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▸  גבולות מוניציפליים — OSM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8833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▸  אוכלוסייה וגילאים — למ"ס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723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▸  אשכול סוציו-אקונומי — למ"ס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5643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▸  רשת כבישים — OSM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▸  תחנות משטרה — OSM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245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▸  מודל הצפה — GSI (גובה גל)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14B8A6"/>
                </a:solidFill>
                <a:latin typeface="Arial"/>
              </a:defRPr>
            </a:pPr>
            <a:r>
              <a:t>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188720"/>
            <a:ext cx="338328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2801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4B8A6"/>
                </a:solidFill>
                <a:latin typeface="Arial"/>
              </a:defRPr>
            </a:pPr>
            <a:r>
              <a:t>⚙️  שלבי עיבוד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920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1.  חישוב אזורי הצפה לפי גובה גל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3042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2.  חיתוך מרחבי עם גבולות ערים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68833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3.  חישוב H — אחוז שטח מוצף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07238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4.  חישוב V — פגיעות דמוגרפית מלמ"ס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4564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5.  חישוב O — סימולציית ABM לפינוי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8404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6.  חישוב R⁻¹ — הערכת משאבי תגובה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2245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7.  חישוב I⁻¹ — זיהוי מקלטים ותשתיות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60857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8.  נרמול Min-Max + שקלול TSRS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14B8A6"/>
                </a:solidFill>
                <a:latin typeface="Arial"/>
              </a:defRPr>
            </a:pPr>
            <a:r>
              <a:t>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0" y="1188720"/>
            <a:ext cx="347472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12801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2C55E"/>
                </a:solidFill>
                <a:latin typeface="Arial"/>
              </a:defRPr>
            </a:pPr>
            <a:r>
              <a:t>📤  תוצרי פלט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19202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תוצרים גאוגרפיים: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22860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🗺️  מפת חום הצפות דינמית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26060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🗺️  פוליגוני ערים צבועים לפי TSRS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🗺️  נקודות תחנות משטרה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32461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🗺️  שכבות OSM (כבישים, מבנים)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3749039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תוצרים טבלאיים: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1148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📊  ציון TSRS (0-100) לכל עיר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44348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📊  פירוט 5 מדדים (H,V,O,R,I)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4754879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📊  הנחיות מבצעיות בעברית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5074919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📊  פילוח דמוגרפי (גילאים, ח"כ)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5394959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1F5F9"/>
                </a:solidFill>
                <a:latin typeface="Arial"/>
              </a:defRPr>
            </a:pPr>
            <a:r>
              <a:t>📊  ייצוא PDF לתחנה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3000" b="1">
                <a:solidFill>
                  <a:srgbClr val="14B8A6"/>
                </a:solidFill>
                <a:latin typeface="Arial"/>
              </a:defRPr>
            </a:pPr>
            <a:r>
              <a:t>היישום: GIS אינטראקטיבי לתיעדוף בזמן אמת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47472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Arial"/>
              </a:defRPr>
            </a:pPr>
            <a:r>
              <a:t>🗺️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371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FFFF"/>
                </a:solidFill>
                <a:latin typeface="Arial"/>
              </a:defRPr>
            </a:pPr>
            <a:r>
              <a:t>מפת GIS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Arial"/>
              </a:defRPr>
            </a:pPr>
            <a:r>
              <a:t>מפת Leaflet עם שכבות OSM, ESRI</a:t>
            </a:r>
            <a:br/>
            <a:r>
              <a:t>Hillshade, ומפת חום הצפות דינמית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188720"/>
            <a:ext cx="347472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3716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Arial"/>
              </a:defRPr>
            </a:pPr>
            <a:r>
              <a:t>🏙️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59" y="1371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FFFF"/>
                </a:solidFill>
                <a:latin typeface="Arial"/>
              </a:defRPr>
            </a:pPr>
            <a:r>
              <a:t>גבולות ערים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192024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Arial"/>
              </a:defRPr>
            </a:pPr>
            <a:r>
              <a:t>554 גבולות מוניציפליים אמיתיים מ-OSM</a:t>
            </a:r>
            <a:br/>
            <a:r>
              <a:t>צבועים לפי ציון TSRS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188720"/>
            <a:ext cx="347472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13716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Arial"/>
              </a:defRPr>
            </a:pPr>
            <a:r>
              <a:t>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371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FFFF"/>
                </a:solidFill>
                <a:latin typeface="Arial"/>
              </a:defRPr>
            </a:pPr>
            <a:r>
              <a:t>סליידר גובה גל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92024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Arial"/>
              </a:defRPr>
            </a:pPr>
            <a:r>
              <a:t>בחירת גובה גל 0.5-10 מ' עם</a:t>
            </a:r>
            <a:br/>
            <a:r>
              <a:t>עדכון מיידי של מפת החום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40480"/>
            <a:ext cx="347472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233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Arial"/>
              </a:defRPr>
            </a:pPr>
            <a: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023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FFFF"/>
                </a:solidFill>
                <a:latin typeface="Arial"/>
              </a:defRPr>
            </a:pPr>
            <a:r>
              <a:t>פילוח דמוגרפי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720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Arial"/>
              </a:defRPr>
            </a:pPr>
            <a:r>
              <a:t>התפלגות גילאים, אשכול ח"כ</a:t>
            </a:r>
            <a:br/>
            <a:r>
              <a:t>מנתוני למ"ס אמיתיים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3840480"/>
            <a:ext cx="347472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40233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Arial"/>
              </a:defRPr>
            </a:pPr>
            <a:r>
              <a:t>🛡️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59" y="4023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FFFF"/>
                </a:solidFill>
                <a:latin typeface="Arial"/>
              </a:defRPr>
            </a:pPr>
            <a:r>
              <a:t>תחנות משטרה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45720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Arial"/>
              </a:defRPr>
            </a:pPr>
            <a:r>
              <a:t>נתוני OSM אמיתיים עם אייקון</a:t>
            </a:r>
            <a:br/>
            <a:r>
              <a:t>משטרת ישראל על המפה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79" y="3840480"/>
            <a:ext cx="347472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59" y="40233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Arial"/>
              </a:defRPr>
            </a:pPr>
            <a:r>
              <a:t>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4023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FFFF"/>
                </a:solidFill>
                <a:latin typeface="Arial"/>
              </a:defRPr>
            </a:pPr>
            <a:r>
              <a:t>הנחיות מבצעיות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5720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Arial"/>
              </a:defRPr>
            </a:pPr>
            <a:r>
              <a:t>ניידות גיבוי, צירי פינוי,</a:t>
            </a:r>
            <a:br/>
            <a:r>
              <a:t>מקלטים אנכיים — לכל עיר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3000" b="1">
                <a:solidFill>
                  <a:srgbClr val="14B8A6"/>
                </a:solidFill>
                <a:latin typeface="Arial"/>
              </a:defRPr>
            </a:pPr>
            <a:r>
              <a:t>מקורות מידע וביבליוגרפיה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3200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FFFF"/>
                </a:solidFill>
                <a:latin typeface="Arial"/>
              </a:defRPr>
            </a:pPr>
            <a:r>
              <a:t>📂  מקורות נתונים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1F5F9"/>
                </a:solidFill>
                <a:latin typeface="Arial"/>
              </a:defRPr>
            </a:pPr>
            <a:r>
              <a:t>▸  הלמ"ס — נתוני אוכלוסייה, גילאים, אשכול סוציו-אקונומי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1284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1F5F9"/>
                </a:solidFill>
                <a:latin typeface="Arial"/>
              </a:defRPr>
            </a:pPr>
            <a:r>
              <a:t>▸  מפ"י — מודל גובה דיגיטלי (DEM) 5 מטר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9689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1F5F9"/>
                </a:solidFill>
                <a:latin typeface="Arial"/>
              </a:defRPr>
            </a:pPr>
            <a:r>
              <a:t>▸  GSI (מכון גיאולוגי) — מודל הצפות צונאמי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80944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1F5F9"/>
                </a:solidFill>
                <a:latin typeface="Arial"/>
              </a:defRPr>
            </a:pPr>
            <a:r>
              <a:t>▸  OpenStreetMap — גבולות מוניציפליים, כבישים, מבנים, תחנות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64991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1F5F9"/>
                </a:solidFill>
                <a:latin typeface="Arial"/>
              </a:defRPr>
            </a:pPr>
            <a:r>
              <a:t>▸  ESRI — שכבת Hillshade (תבליט)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1F5F9"/>
                </a:solidFill>
                <a:latin typeface="Arial"/>
              </a:defRPr>
            </a:pPr>
            <a:r>
              <a:t>▸  GOVMAP — שכבות WMS ממשלתיות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188720"/>
            <a:ext cx="5486400" cy="3200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14B8A6"/>
                </a:solidFill>
                <a:latin typeface="Arial"/>
              </a:defRPr>
            </a:pPr>
            <a:r>
              <a:t>📚  מקורות ביבליוגרפיים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37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1F5F9"/>
                </a:solidFill>
                <a:latin typeface="Courier New"/>
              </a:defRPr>
            </a:pPr>
            <a:r>
              <a:t>1. Wood, N. &amp; Jones, J. (2015). "Tsunami Exposure</a:t>
            </a:r>
            <a:br/>
            <a:r>
              <a:t>   Assessment" — USGS Scientific Report.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2140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1F5F9"/>
                </a:solidFill>
                <a:latin typeface="Courier New"/>
              </a:defRPr>
            </a:pPr>
            <a:r>
              <a:t>2. Tucson Police Dept. — Workload-Based Staffing</a:t>
            </a:r>
            <a:br/>
            <a:r>
              <a:t>   Model for Resource Allocation.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05456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1F5F9"/>
                </a:solidFill>
                <a:latin typeface="Courier New"/>
              </a:defRPr>
            </a:pPr>
            <a:r>
              <a:t>3. Mas, E. et al. (2012). "Agent-Based Simulation</a:t>
            </a:r>
            <a:br/>
            <a:r>
              <a:t>   of Tsunami Evacuation" — Natural Hazards.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889503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1F5F9"/>
                </a:solidFill>
                <a:latin typeface="Courier New"/>
              </a:defRPr>
            </a:pPr>
            <a:r>
              <a:t>4. Patel, D. (2019). "GIS-Based Multi-Criteria</a:t>
            </a:r>
            <a:br/>
            <a:r>
              <a:t>   Tsunami Risk Assessment" — Applied Geography.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73551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1F5F9"/>
                </a:solidFill>
                <a:latin typeface="Courier New"/>
              </a:defRPr>
            </a:pPr>
            <a:r>
              <a:t>5. Israel CBS (2022). "Socio-Economic Profiles</a:t>
            </a:r>
            <a:br/>
            <a:r>
              <a:t>   of Local Authorities" — Statistical Abstract.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65759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1F5F9"/>
                </a:solidFill>
                <a:latin typeface="Courier New"/>
              </a:defRPr>
            </a:pPr>
            <a:r>
              <a:t>6. Geist, E. &amp; Parsons, T. (2006). "Probabilistic</a:t>
            </a:r>
            <a:br/>
            <a:r>
              <a:t>   Analysis of Tsunami Hazards" — Natural Hazards.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04164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1F5F9"/>
                </a:solidFill>
                <a:latin typeface="Courier New"/>
              </a:defRPr>
            </a:pPr>
            <a:r>
              <a:t>7. Leone, F. et al. (2011). "Evacuation Modeling</a:t>
            </a:r>
            <a:br/>
            <a:r>
              <a:t>   for Tsunami Risk" — Natural Hazards &amp; Earth.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663440"/>
            <a:ext cx="1124712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754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FFFF"/>
                </a:solidFill>
                <a:latin typeface="Arial"/>
              </a:defRPr>
            </a:pPr>
            <a:r>
              <a:t>🔧  סטאק טכנולוגי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4B8A6"/>
                </a:solidFill>
                <a:latin typeface="Arial"/>
              </a:defRPr>
            </a:pPr>
            <a:r>
              <a:t>Frontend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Arial"/>
              </a:defRPr>
            </a:pPr>
            <a:r>
              <a:t>Leaflet.js + HTML/CSS/JS + Firebase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4B8A6"/>
                </a:solidFill>
                <a:latin typeface="Arial"/>
              </a:defRPr>
            </a:pPr>
            <a:r>
              <a:t>Backend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Arial"/>
              </a:defRPr>
            </a:pPr>
            <a:r>
              <a:t>Python FastAPI + GeoJSON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4B8A6"/>
                </a:solidFill>
                <a:latin typeface="Arial"/>
              </a:defRPr>
            </a:pPr>
            <a:r>
              <a:t>Map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Arial"/>
              </a:defRPr>
            </a:pPr>
            <a:r>
              <a:t>OSM + ESRI Hillshade + GOVMAP WMS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4B8A6"/>
                </a:solidFill>
                <a:latin typeface="Arial"/>
              </a:defRPr>
            </a:pPr>
            <a:r>
              <a:t>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4A3B8"/>
                </a:solidFill>
                <a:latin typeface="Arial"/>
              </a:defRPr>
            </a:pPr>
            <a:r>
              <a:t>CBS CSV + Overpass API + Leaflet.heat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3000" b="1">
                <a:solidFill>
                  <a:srgbClr val="14B8A6"/>
                </a:solidFill>
                <a:latin typeface="Arial"/>
              </a:defRPr>
            </a:pPr>
            <a:r>
              <a:t>סיכום וקריאה לפעולה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029200" cy="502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4B8A6"/>
                </a:solidFill>
                <a:latin typeface="Arial"/>
              </a:defRPr>
            </a:pPr>
            <a:r>
              <a:t>✅  5 מדדים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1430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Arial"/>
              </a:defRPr>
            </a:pPr>
            <a:r>
              <a:t>ציון TSRS 0-100 לכל עיר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5029200" cy="502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4B8A6"/>
                </a:solidFill>
                <a:latin typeface="Arial"/>
              </a:defRPr>
            </a:pPr>
            <a:r>
              <a:t>✅  GIS + ABM + למ"ס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7373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Arial"/>
              </a:defRPr>
            </a:pPr>
            <a:r>
              <a:t>מודל מבוסס נתונים אמיתיים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5029200" cy="502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317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4B8A6"/>
                </a:solidFill>
                <a:latin typeface="Arial"/>
              </a:defRPr>
            </a:pPr>
            <a:r>
              <a:t>✅  ממשק אינטואיטיבי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3317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Arial"/>
              </a:defRPr>
            </a:pPr>
            <a:r>
              <a:t>סליידר + נפה + מפת חום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80360"/>
            <a:ext cx="5029200" cy="502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926079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4B8A6"/>
                </a:solidFill>
                <a:latin typeface="Arial"/>
              </a:defRPr>
            </a:pPr>
            <a:r>
              <a:t>✅  554 ערים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926079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Arial"/>
              </a:defRPr>
            </a:pPr>
            <a:r>
              <a:t>גבולות מוניציפליים מלאים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74720"/>
            <a:ext cx="5029200" cy="502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20439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4B8A6"/>
                </a:solidFill>
                <a:latin typeface="Arial"/>
              </a:defRPr>
            </a:pPr>
            <a:r>
              <a:t>✅  5 שפות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3520439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Arial"/>
              </a:defRPr>
            </a:pPr>
            <a:r>
              <a:t>עברית, אנגלית, רוסית, צרפתית, ספרדית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69080"/>
            <a:ext cx="5029200" cy="502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4B8A6"/>
                </a:solidFill>
                <a:latin typeface="Arial"/>
              </a:defRPr>
            </a:pPr>
            <a:r>
              <a:t>✅  Open Source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1148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Arial"/>
              </a:defRPr>
            </a:pPr>
            <a:r>
              <a:t>OSM + Leaflet — עלות מינימלית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1097280"/>
            <a:ext cx="57607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118872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14B8A6"/>
                </a:solidFill>
                <a:latin typeface="Arial"/>
              </a:defRPr>
            </a:pPr>
            <a:r>
              <a:t>🚀  הצעדים הבאים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828800"/>
            <a:ext cx="457200" cy="4572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828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1874519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FFFFFF"/>
                </a:solidFill>
                <a:latin typeface="Arial"/>
              </a:defRPr>
            </a:pPr>
            <a:r>
              <a:t>אישור BRD על ידי ממ"מ / מנהל מחשוב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468880"/>
            <a:ext cx="457200" cy="4572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5146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FFFFFF"/>
                </a:solidFill>
                <a:latin typeface="Arial"/>
              </a:defRPr>
            </a:pPr>
            <a:r>
              <a:t>תיאום GSI ומפ"י לנתוני הצפה מדויקים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108960"/>
            <a:ext cx="457200" cy="4572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31546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FFFFFF"/>
                </a:solidFill>
                <a:latin typeface="Arial"/>
              </a:defRPr>
            </a:pPr>
            <a:r>
              <a:t>בחירת 3 תחנות פיילוט בחוף הים התיכון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3749040"/>
            <a:ext cx="457200" cy="4572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0" y="3749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37947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FFFFFF"/>
                </a:solidFill>
                <a:latin typeface="Arial"/>
              </a:defRPr>
            </a:pPr>
            <a:r>
              <a:t>הקמת סביבה (Docker + DB) — שבוע 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4389120"/>
            <a:ext cx="457200" cy="4572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434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FFFFFF"/>
                </a:solidFill>
                <a:latin typeface="Arial"/>
              </a:defRPr>
            </a:pPr>
            <a:r>
              <a:t>Kick-off: צוות GIS + מפקדי תחנות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760720"/>
            <a:ext cx="1124712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B8A6"/>
                </a:solidFill>
                <a:latin typeface="Arial"/>
              </a:defRPr>
            </a:pPr>
            <a:r>
              <a:t>"מידע גאוגרפי מציל חיים — הכנה מוקדמת מציל יותר"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